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2196F3"/>
                </a:solidFill>
              </a:defRPr>
            </a:pPr>
            <a:r>
              <a:t>Options Trading AI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</a:defRPr>
            </a:pPr>
            <a:r>
              <a:t>Microservices Architecture</a:t>
            </a:r>
            <a:br/>
            <a:r>
              <a:t>Raspberry Pi +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196F3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822960"/>
            <a:ext cx="2743200" cy="548640"/>
          </a:xfrm>
          <a:prstGeom prst="rect">
            <a:avLst/>
          </a:prstGeom>
          <a:solidFill>
            <a:srgbClr val="6496FF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Schwab API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0" y="1371600"/>
            <a:ext cx="0" cy="4572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286000" y="1828800"/>
            <a:ext cx="4572000" cy="548640"/>
          </a:xfrm>
          <a:prstGeom prst="rect">
            <a:avLst/>
          </a:prstGeom>
          <a:solidFill>
            <a:srgbClr val="4CAF50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Data Ingestion Service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2377440"/>
            <a:ext cx="0" cy="4572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200400" y="2834640"/>
            <a:ext cx="2743200" cy="548640"/>
          </a:xfrm>
          <a:prstGeom prst="rect">
            <a:avLst/>
          </a:prstGeom>
          <a:solidFill>
            <a:srgbClr val="FF9800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InfluxDB + Postgres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3200400" y="3383280"/>
            <a:ext cx="914400" cy="4572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29200" y="3383280"/>
            <a:ext cx="914400" cy="4572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3840480"/>
            <a:ext cx="2743200" cy="548640"/>
          </a:xfrm>
          <a:prstGeom prst="rect">
            <a:avLst/>
          </a:prstGeom>
          <a:solidFill>
            <a:srgbClr val="4CAF50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Quant Engine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3840480"/>
            <a:ext cx="2743200" cy="548640"/>
          </a:xfrm>
          <a:prstGeom prst="rect">
            <a:avLst/>
          </a:prstGeom>
          <a:solidFill>
            <a:srgbClr val="4CAF50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Portfolio Service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28800" y="4389120"/>
            <a:ext cx="457200" cy="4572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858000" y="4389120"/>
            <a:ext cx="457200" cy="4572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74320" y="4846320"/>
            <a:ext cx="2194560" cy="548640"/>
          </a:xfrm>
          <a:prstGeom prst="rect">
            <a:avLst/>
          </a:prstGeom>
          <a:solidFill>
            <a:srgbClr val="9C27B0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Options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4846320"/>
            <a:ext cx="2194560" cy="548640"/>
          </a:xfrm>
          <a:prstGeom prst="rect">
            <a:avLst/>
          </a:prstGeom>
          <a:solidFill>
            <a:srgbClr val="9C27B0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Fundamental 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4846320"/>
            <a:ext cx="2194560" cy="548640"/>
          </a:xfrm>
          <a:prstGeom prst="rect">
            <a:avLst/>
          </a:prstGeom>
          <a:solidFill>
            <a:srgbClr val="F44336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Risk Engine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28800" y="5394960"/>
            <a:ext cx="1828800" cy="4572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657600" y="5394960"/>
            <a:ext cx="914400" cy="4572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029200" y="5394960"/>
            <a:ext cx="1371600" cy="4572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200400" y="5852160"/>
            <a:ext cx="2743200" cy="548640"/>
          </a:xfrm>
          <a:prstGeom prst="rect">
            <a:avLst/>
          </a:prstGeom>
          <a:solidFill>
            <a:srgbClr val="F44336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FastAPI Gateway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0" y="6400800"/>
            <a:ext cx="0" cy="45720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200400" y="6858000"/>
            <a:ext cx="2743200" cy="548640"/>
          </a:xfrm>
          <a:prstGeom prst="rect">
            <a:avLst/>
          </a:prstGeom>
          <a:solidFill>
            <a:srgbClr val="2196F3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React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196F3"/>
                </a:solidFill>
              </a:defRPr>
            </a:pPr>
            <a:r>
              <a:t>Microservices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solidFill>
            <a:srgbClr val="4CAF50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Ingestion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41148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Schwab API → InfluxDB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3840480" cy="457200"/>
          </a:xfrm>
          <a:prstGeom prst="rect">
            <a:avLst/>
          </a:prstGeom>
          <a:solidFill>
            <a:srgbClr val="4CAF50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Quant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91640"/>
            <a:ext cx="41148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IV percentile, skew, spreads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3840480" cy="457200"/>
          </a:xfrm>
          <a:prstGeom prst="rect">
            <a:avLst/>
          </a:prstGeom>
          <a:solidFill>
            <a:srgbClr val="9C27B0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Options AI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286000"/>
            <a:ext cx="41148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LLM: recommend sell strategies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80360"/>
            <a:ext cx="3840480" cy="457200"/>
          </a:xfrm>
          <a:prstGeom prst="rect">
            <a:avLst/>
          </a:prstGeom>
          <a:solidFill>
            <a:srgbClr val="9C27B0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Fundamental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80360"/>
            <a:ext cx="41148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EDGAR RAG, DCF, cash 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74720"/>
            <a:ext cx="3840480" cy="457200"/>
          </a:xfrm>
          <a:prstGeom prst="rect">
            <a:avLst/>
          </a:prstGeom>
          <a:solidFill>
            <a:srgbClr val="4CAF50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Portfolio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474720"/>
            <a:ext cx="41148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Real-time P&amp;L, cost basis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69080"/>
            <a:ext cx="3840480" cy="457200"/>
          </a:xfrm>
          <a:prstGeom prst="rect">
            <a:avLst/>
          </a:prstGeom>
          <a:solidFill>
            <a:srgbClr val="F44336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Risk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069080"/>
            <a:ext cx="41148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Margin, exposure 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663440"/>
            <a:ext cx="3840480" cy="457200"/>
          </a:xfrm>
          <a:prstGeom prst="rect">
            <a:avLst/>
          </a:prstGeom>
          <a:solidFill>
            <a:srgbClr val="F44336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API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663440"/>
            <a:ext cx="41148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FastAPI REST + WebSocket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57800"/>
            <a:ext cx="3840480" cy="457200"/>
          </a:xfrm>
          <a:prstGeom prst="rect">
            <a:avLst/>
          </a:prstGeom>
          <a:solidFill>
            <a:srgbClr val="4CAF50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Worker (Celery)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257800"/>
            <a:ext cx="41148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Background jobs, EDGAR fetch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196F3"/>
                </a:solidFill>
              </a:defRPr>
            </a:pPr>
            <a:r>
              <a:t>Data Stores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2743200" cy="548640"/>
          </a:xfrm>
          <a:prstGeom prst="rect">
            <a:avLst/>
          </a:prstGeom>
          <a:solidFill>
            <a:srgbClr val="FF9800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InfluxDB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1371600"/>
            <a:ext cx="48463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Time-series: ticks, IV, Greeks, prices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2743200" cy="548640"/>
          </a:xfrm>
          <a:prstGeom prst="rect">
            <a:avLst/>
          </a:prstGeom>
          <a:solidFill>
            <a:srgbClr val="FF9800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Postgres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377440"/>
            <a:ext cx="48463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Recommendations, positions, P&amp;L,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383280"/>
            <a:ext cx="2743200" cy="548640"/>
          </a:xfrm>
          <a:prstGeom prst="rect">
            <a:avLst/>
          </a:prstGeom>
          <a:solidFill>
            <a:srgbClr val="FF9800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pgvector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383280"/>
            <a:ext cx="48463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EDGAR filings RAG (semantic search)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389120"/>
            <a:ext cx="2743200" cy="548640"/>
          </a:xfrm>
          <a:prstGeom prst="rect">
            <a:avLst/>
          </a:prstGeom>
          <a:solidFill>
            <a:srgbClr val="FF9800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Redis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4389120"/>
            <a:ext cx="484632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Celery broker, WebSocket pub/sub, cache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196F3"/>
                </a:solidFill>
              </a:defRPr>
            </a:pPr>
            <a:r>
              <a:t>Frontend Pages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457200"/>
          </a:xfrm>
          <a:prstGeom prst="rect">
            <a:avLst/>
          </a:prstGeom>
          <a:solidFill>
            <a:srgbClr val="2196F3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188720"/>
            <a:ext cx="57607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Live options chain, price charts, WebSocket feed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286000" cy="457200"/>
          </a:xfrm>
          <a:prstGeom prst="rect">
            <a:avLst/>
          </a:prstGeom>
          <a:solidFill>
            <a:srgbClr val="2196F3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Options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011680"/>
            <a:ext cx="57607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AI sell ideas: spreads, puts, covered calls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34640"/>
            <a:ext cx="2286000" cy="457200"/>
          </a:xfrm>
          <a:prstGeom prst="rect">
            <a:avLst/>
          </a:prstGeom>
          <a:solidFill>
            <a:srgbClr val="2196F3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Fundamental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834640"/>
            <a:ext cx="57607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DCF, revenue/earnings charts, EDGAR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2286000" cy="457200"/>
          </a:xfrm>
          <a:prstGeom prst="rect">
            <a:avLst/>
          </a:prstGeom>
          <a:solidFill>
            <a:srgbClr val="2196F3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657600"/>
            <a:ext cx="57607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Real-time P&amp;L, positions, cost basis tracking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480560"/>
            <a:ext cx="2286000" cy="457200"/>
          </a:xfrm>
          <a:prstGeom prst="rect">
            <a:avLst/>
          </a:prstGeom>
          <a:solidFill>
            <a:srgbClr val="2196F3"/>
          </a:solidFill>
          <a:ln w="25400">
            <a:solidFill>
              <a:srgbClr val="32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Settings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480560"/>
            <a:ext cx="576072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defRPr sz="900">
                <a:solidFill>
                  <a:srgbClr val="505050"/>
                </a:solidFill>
              </a:defRPr>
            </a:pPr>
            <a:r>
              <a:t>Ticker management, API keys, agent config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196F3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96F3"/>
                </a:solidFill>
              </a:defRPr>
            </a:pPr>
            <a: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• Python 3.9+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• FastAPI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• AsyncIO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• Pydantic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• SQLAlchemy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• Celery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0972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96F3"/>
                </a:solidFill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5544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• React 18+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659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• Vite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3774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• TailwindCSS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7889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• WebSocket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2004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• TypeScript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0972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96F3"/>
                </a:solidFill>
              </a:defRPr>
            </a:pPr>
            <a:r>
              <a:t>AI /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• Claude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659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• InfluxDB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774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• 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889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• pgvector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004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• Redis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